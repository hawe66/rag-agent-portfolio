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188720"/>
            <a:ext cx="4023360" cy="4023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8046720" y="2560320"/>
            <a:ext cx="2743200" cy="2743200"/>
          </a:xfrm>
          <a:prstGeom prst="ellipse">
            <a:avLst/>
          </a:prstGeom>
          <a:solidFill>
            <a:srgbClr val="20264A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12주 프로젝트 최종 결과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783080"/>
            <a:ext cx="7589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1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설명서의 그림까지</a:t>
            </a:r>
            <a:endParaRPr lang="en-US" sz="3400" dirty="0"/>
          </a:p>
          <a:p>
            <a:pPr indent="0" marL="0">
              <a:lnSpc>
                <a:spcPts val="41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읽어주는 AI 만들기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02920" y="39319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무엇이 되고 무엇이 안 되는지, 직접 만든 문제로 확인했습니다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풀려던 문제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설명서의 답이 글이 아니라 그림에만 있을 때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6002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"이 아이콘은 무슨 모양인가요?"  "조작부는 어느 쪽에 있나요?"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이런 질문의 답은 본문 어디에도 안 적혀 있고 그림에만 그려져 있습니다.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269748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 정수기·공기청정기·무선청소기 설명서 6종을 대상으로, 글자만 읽는 검색이 못 푸는 질문을 풀어보려 했습니다.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760720" y="1600200"/>
            <a:ext cx="2880360" cy="2468880"/>
          </a:xfrm>
          <a:prstGeom prst="roundRect">
            <a:avLst>
              <a:gd name="adj" fmla="val 2963"/>
            </a:avLst>
          </a:prstGeom>
          <a:solidFill>
            <a:srgbClr val="EEF2FB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B4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0" y="175564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시도한 세 가지 방법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0" y="2103120"/>
            <a:ext cx="2514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글자만 쓰기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방식 (비교 기준)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페이지를 통째로 설명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페이지 한 장을 글로 요약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2E8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부분만 잘라서 설명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그림 한 조각만 크게 보고 설명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먼저 한 일 — 시험 문제 만들기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결론을 내리려면 문제가 충분히 많아야 했습니다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572768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지난 주까지는 '그림 없이는 못 푸는 질문'이 7개뿐이었습니다. 한 문제가 14%를 좌우해서 어떤 비교도 신뢰할 수 없었습니다. 그래서 설명서 원본을 직접 보며 27개로 늘렸습니다.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377440"/>
          <a:ext cx="50292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560320"/>
                <a:gridCol w="91440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질문 유형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묻는 것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문항 수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아이콘 모양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그 표시가 어떻게 생겼나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배치·번호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①번이 가리키는 게 무엇인가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부품 위치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제품의 어느 쪽에 있나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조작 방향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어느 쪽으로 돌리나·끼우나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806440" y="2377440"/>
            <a:ext cx="2834640" cy="1737360"/>
          </a:xfrm>
          <a:prstGeom prst="roundRect">
            <a:avLst>
              <a:gd name="adj" fmla="val 4211"/>
            </a:avLst>
          </a:prstGeom>
          <a:solidFill>
            <a:srgbClr val="EEF2FB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B4">
                <a:alpha val="2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989320" y="250545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중요한 보완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989320" y="2816352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이전에는 복잡한 모델 3종에서만 문제를 냈습니다. 이번엔 단순 모델 3종에서도 13문항을 만들어, 설명서 6종 전체를 처음으로 다뤘습니다.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02920" y="425196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 생성 없이 전부 원본 PDF를 열어 직접 작성했고, 채점도 자동 점수 대신 원본과 대조해 손으로 했습니다.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8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결과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부분만 잘라서 설명하니 처음으로 답이 나왔습니다</a:t>
            </a:r>
            <a:endParaRPr lang="en-US" sz="2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45920"/>
          <a:ext cx="81381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737360"/>
                <a:gridCol w="2011680"/>
                <a:gridCol w="16459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방법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맞힌 문항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맞힘 + 부분정답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모른다고 답함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① 글자만 쓰기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85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/ 27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85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/ 27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② 페이지 통째로 설명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79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/ 27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79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/ 27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③ 부분만 잘라서 설명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8B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/ 27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8B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/ 27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3246120"/>
            <a:ext cx="3977640" cy="1051560"/>
          </a:xfrm>
          <a:prstGeom prst="roundRect">
            <a:avLst>
              <a:gd name="adj" fmla="val 6957"/>
            </a:avLst>
          </a:prstGeom>
          <a:solidFill>
            <a:srgbClr val="EEF2FB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B4">
                <a:alpha val="2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04088" y="33649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검색은 문제가 아니었습니다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704088" y="3639312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 방법 모두 맞는 설명서를 27번 다 찾았습니다. 못 맞힌 건 '찾지 못해서'가 아니라 '그림 속 정보가 글로 없어서'였습니다.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663440" y="3246120"/>
            <a:ext cx="3977640" cy="1051560"/>
          </a:xfrm>
          <a:prstGeom prst="roundRect">
            <a:avLst>
              <a:gd name="adj" fmla="val 6957"/>
            </a:avLst>
          </a:prstGeom>
          <a:solidFill>
            <a:srgbClr val="EEF2FB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B4">
                <a:alpha val="2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864608" y="33649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속도는 거의 그대로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864608" y="3639312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질문에 24.3초 → 25.7초. 1.4초(6%)만 늘었습니다. 추가 비용은 대부분 준비 단계에서 한 번만 듭니다.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유형별로 나눠 보면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뚫린 건 사실상 '아이콘' 한 유형입니다</a:t>
            </a:r>
            <a:endParaRPr lang="en-US" sz="2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45920"/>
          <a:ext cx="81381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22960"/>
                <a:gridCol w="1463040"/>
                <a:gridCol w="1737360"/>
                <a:gridCol w="17373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질문 유형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문항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글자만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페이지 통째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부분 잘라서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아이콘 모양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E8B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배치·번호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부품 위치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조작 방향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C85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3520440"/>
            <a:ext cx="8138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아이콘이 잘 되는 이유 </a:t>
            </a:r>
            <a:pPr indent="0" marL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그림 안에서 딱 떨어지게 분리되고, 잘라내면 화면을 꽉 채웁니다.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C85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방향은 세 방법 모두 0점 </a:t>
            </a:r>
            <a:pPr indent="0" marL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그림 설명에 화살표가 적혀 있어도, 답변이 "화살표 방향으로 여세요"라는 같은 말 반복이 됩니다. 이 프로젝트가 못 푼 유형입니다.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결론을 서두르지 않기 위해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말할 수 있는 것과 없는 것을 나눠 적었습니다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3977640" cy="2651760"/>
          </a:xfrm>
          <a:prstGeom prst="roundRect">
            <a:avLst>
              <a:gd name="adj" fmla="val 2759"/>
            </a:avLst>
          </a:prstGeom>
          <a:solidFill>
            <a:srgbClr val="1E264A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B4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69164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말할 수 있는 것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057400"/>
            <a:ext cx="3520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7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글자만으로는 27문항 중 0개 (n=27)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7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부분 잘라 설명이 8개로 가장 높음 (n=27)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7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이득은 아이콘에 집중 (8문항 중 6개)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7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방향은 모두 0점 (n=4)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7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글자 질문 성능은 안 떨어짐 (n=6)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663440" y="1554480"/>
            <a:ext cx="3977640" cy="2651760"/>
          </a:xfrm>
          <a:prstGeom prst="roundRect">
            <a:avLst>
              <a:gd name="adj" fmla="val 2759"/>
            </a:avLst>
          </a:prstGeom>
          <a:solidFill>
            <a:srgbClr val="2A1F1A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B4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169164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말할 수 없는 것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37760" y="2057400"/>
            <a:ext cx="3520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8D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표본이 작음 — 유형별 4~8문항, 한 문항이 12~25%p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8D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문제를 낸 쪽과 채점한 쪽이 같음 (편향)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8D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잘라낸 그림이 15페이지에만 있음 — 전체 252페이지로 넓히면 어떨지는 측정 안 함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8D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부분정답 경계가 주관적 — 다르게 채점하면 8이 9가 됨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2920" y="434340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F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숫자 옆에 항상 문항 수를 같이 적었습니다. "성능 향상"이 아니라 "27문항 중 0개에서 8개로"라고 씁니다.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못 맞힌 문항은 왜 못 맞혔나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실패의 성격이 바뀐 것이 중요합니다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3977640" cy="1371600"/>
          </a:xfrm>
          <a:prstGeom prst="roundRect">
            <a:avLst>
              <a:gd name="adj" fmla="val 5333"/>
            </a:avLst>
          </a:prstGeom>
          <a:solidFill>
            <a:srgbClr val="FBF1EC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B4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7190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85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이전 방식들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실패 대부분이 "애초에 그 정보가 어디에도 저장돼 있지 않음" — 손쓸 방법이 없는 실패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600200"/>
            <a:ext cx="3977640" cy="1371600"/>
          </a:xfrm>
          <a:prstGeom prst="roundRect">
            <a:avLst>
              <a:gd name="adj" fmla="val 5333"/>
            </a:avLst>
          </a:prstGeom>
          <a:solidFill>
            <a:srgbClr val="EAF4E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B4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17190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8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부분 잘라서 설명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892040" y="201168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"정보가 없음"이 0건으로 사라지고, 대신 잘라낸 범위 문제(12건)와 활용 실패(6건)로 갈림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3108960"/>
            <a:ext cx="8138160" cy="1143000"/>
          </a:xfrm>
          <a:prstGeom prst="roundRect">
            <a:avLst>
              <a:gd name="adj" fmla="val 6400"/>
            </a:avLst>
          </a:prstGeom>
          <a:solidFill>
            <a:srgbClr val="EEF2FB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B4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32278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7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가장 아까운 6건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31520" y="3520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답에 필요한 내용이 이미 눈앞에 있었는데도 "모르겠다"고 답한 경우입니다. 예를 들어 '조작부는 제품 상단'이라는 설명이 전달됐는데도 거절했습니다. 즉 지금 점수는 이 방식의 한계치가 아니라, 더 올릴 여지가 있다는 뜻입니다.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4370832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반대로 잘못된 정보를 자신 있게 답한 경우는 없었습니다 — 틀릴 바엔 모른다고 답하는 원칙은 끝까지 지켜졌습니다.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8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최종 결론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이 설명서에는 '부분을 잘라 미리 설명해두기'가 답이다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55448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다만 조건을 붙여서 결론을 냅니다 — 무조건 좋다가 아니라, 어디까지 좋은지를 함께 적었습니다.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2057400"/>
            <a:ext cx="3977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B4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2359152"/>
            <a:ext cx="274320" cy="274320"/>
          </a:xfrm>
          <a:prstGeom prst="ellipse">
            <a:avLst/>
          </a:prstGeom>
          <a:solidFill>
            <a:srgbClr val="2E8B6F"/>
          </a:solidFill>
          <a:ln/>
        </p:spPr>
      </p:sp>
      <p:sp>
        <p:nvSpPr>
          <p:cNvPr id="7" name="Text 5"/>
          <p:cNvSpPr/>
          <p:nvPr/>
        </p:nvSpPr>
        <p:spPr>
          <a:xfrm>
            <a:off x="1069848" y="216712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전체가 아니라 선택적으로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69848" y="2487168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페이지를 자를 필요 없이, 그림이 답을 가진 페이지만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17720" y="2057400"/>
            <a:ext cx="3977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B4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2359152"/>
            <a:ext cx="274320" cy="274320"/>
          </a:xfrm>
          <a:prstGeom prst="ellipse">
            <a:avLst/>
          </a:prstGeom>
          <a:solidFill>
            <a:srgbClr val="2E8B6F"/>
          </a:solidFill>
          <a:ln/>
        </p:spPr>
      </p:sp>
      <p:sp>
        <p:nvSpPr>
          <p:cNvPr id="11" name="Text 9"/>
          <p:cNvSpPr/>
          <p:nvPr/>
        </p:nvSpPr>
        <p:spPr>
          <a:xfrm>
            <a:off x="5184648" y="216712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확실히 되는 건 아이콘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184648" y="2487168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위치·배치는 경향 수준, 방향은 미해결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108960"/>
            <a:ext cx="3977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B4">
                <a:alpha val="2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85800" y="3410712"/>
            <a:ext cx="274320" cy="274320"/>
          </a:xfrm>
          <a:prstGeom prst="ellipse">
            <a:avLst/>
          </a:prstGeom>
          <a:solidFill>
            <a:srgbClr val="5B6472"/>
          </a:solidFill>
          <a:ln/>
        </p:spPr>
      </p:sp>
      <p:sp>
        <p:nvSpPr>
          <p:cNvPr id="15" name="Text 13"/>
          <p:cNvSpPr/>
          <p:nvPr/>
        </p:nvSpPr>
        <p:spPr>
          <a:xfrm>
            <a:off x="1069848" y="321868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이미지 유사도 검색은 기각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069848" y="3538728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한국어 선 그림에는 안 맞음 (9주차 확인)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617720" y="3108960"/>
            <a:ext cx="3977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14300" dist="38100" dir="5400000">
              <a:srgbClr val="8894B4">
                <a:alpha val="2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00600" y="3410712"/>
            <a:ext cx="274320" cy="274320"/>
          </a:xfrm>
          <a:prstGeom prst="ellipse">
            <a:avLst/>
          </a:prstGeom>
          <a:solidFill>
            <a:srgbClr val="5B6472"/>
          </a:solidFill>
          <a:ln/>
        </p:spPr>
      </p:sp>
      <p:sp>
        <p:nvSpPr>
          <p:cNvPr id="19" name="Text 17"/>
          <p:cNvSpPr/>
          <p:nvPr/>
        </p:nvSpPr>
        <p:spPr>
          <a:xfrm>
            <a:off x="5184648" y="321868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질문할 때 그때그때 보는 방식도 부족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184648" y="3538728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페이지 통째로 보면 같은 한계 (11주차 확인)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02920" y="420624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실무에 옮긴다면: 제품군마다 '본문이 그림에 맡기는 정보'가 다릅니다. 정수기·공기청정기는 방향을 글로 적고, 청소기만 그림에 맡깁니다. 그림 처리가 필요한 지점부터 찾으세요.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12주 전체 흐름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글자 검색을 다듬고 → 그림으로 넘어가고 → 정직하게 닫기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8138160" cy="502920"/>
          </a:xfrm>
          <a:prstGeom prst="roundRect">
            <a:avLst>
              <a:gd name="adj" fmla="val 10909"/>
            </a:avLst>
          </a:prstGeom>
          <a:solidFill>
            <a:srgbClr val="EEF2FB"/>
          </a:solidFill>
          <a:ln w="12700">
            <a:solidFill>
              <a:srgbClr val="E4E9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60020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3~5주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783080" y="16002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글자 검색 성능 올리기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074920" y="16002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검색 정확도 61% → 91%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2176272"/>
            <a:ext cx="81381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176272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6~8주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783080" y="217627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스스로 판단하는 구조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74920" y="217627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막히면 다시 찾고, 모르면 거절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2752344"/>
            <a:ext cx="8138160" cy="502920"/>
          </a:xfrm>
          <a:prstGeom prst="roundRect">
            <a:avLst>
              <a:gd name="adj" fmla="val 10909"/>
            </a:avLst>
          </a:prstGeom>
          <a:solidFill>
            <a:srgbClr val="EEF2FB"/>
          </a:solidFill>
          <a:ln w="12700">
            <a:solidFill>
              <a:srgbClr val="E4E9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752344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9~10주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783080" y="2752344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그림을 글로 바꿔 저장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074920" y="2752344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이미지 유사도 방식은 기각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3328416"/>
            <a:ext cx="81381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328416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11주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783080" y="3328416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도구로 쪼개고 우회로 설계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074920" y="3328416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페이지 통째로는 한계 확인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3904488"/>
            <a:ext cx="8138160" cy="502920"/>
          </a:xfrm>
          <a:prstGeom prst="roundRect">
            <a:avLst>
              <a:gd name="adj" fmla="val 10909"/>
            </a:avLst>
          </a:prstGeom>
          <a:solidFill>
            <a:srgbClr val="EAF4EF"/>
          </a:solidFill>
          <a:ln w="12700">
            <a:solidFill>
              <a:srgbClr val="E4E9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3904488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12주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783080" y="390448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문제를 늘려 다각도 검증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074920" y="390448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부분 잘라 설명 → 0에서 8로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" y="457200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가장 값진 경험은 9주차였습니다 — 결과를 발표한 뒤에야 '측정 도구 자체가 틀렸다'는 걸 발견하고 전부 되돌렸습니다.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2743200"/>
            <a:ext cx="3840480" cy="3840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마무리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128016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숫자를 키우는 것보다</a:t>
            </a:r>
            <a:endParaRPr lang="en-US" sz="29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숫자를 믿을 수 있게 만드는 일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02920" y="2743200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7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27문항 중 8문항. 자랑할 점수는 아닙니다. 하지만 </a:t>
            </a:r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어떤 유형이 되고 안 되는지, 왜 안 되는지, 무엇을 아직 말할 수 없는지</a:t>
            </a:r>
            <a:pPr indent="0" marL="0">
              <a:buNone/>
            </a:pPr>
            <a:r>
              <a:rPr lang="en-US" sz="1500" dirty="0">
                <a:solidFill>
                  <a:srgbClr val="D7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를 전부 근거와 함께 적었습니다.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384048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남은 과제: 방향 유형 해결 · 근거를 활용 못한 6건 개선 · 잘라내기를 전체 페이지로 확장했을 때의 검증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가전 매뉴얼 그림 읽는 AI — 최종 결과</dc:title>
  <dc:subject>PptxGenJS Presentation</dc:subject>
  <dc:creator>PptxGenJS</dc:creator>
  <cp:lastModifiedBy>PptxGenJS</cp:lastModifiedBy>
  <cp:revision>1</cp:revision>
  <dcterms:created xsi:type="dcterms:W3CDTF">2026-08-04T08:53:15Z</dcterms:created>
  <dcterms:modified xsi:type="dcterms:W3CDTF">2026-08-04T08:53:15Z</dcterms:modified>
</cp:coreProperties>
</file>